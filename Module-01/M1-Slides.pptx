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6467AF-2E6C-4783-9C05-0ECA46AFABB8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E68D5D-4DBC-4E53-BBD9-DA1FAD12BF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2126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9922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6940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230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8218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0975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0313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743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8034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8565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81980-3ECE-A040-B7B9-5242D656D8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4C8176-21D3-6453-9FF4-88FFF7DA16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774F2-4694-EBA5-C3D9-08F7E9C303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42DF7-74DF-010C-AE92-9E5C1CF07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0641F0-2C46-0B51-382C-4A8D7C5D9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267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3D128-96D6-A44A-DE45-4F8A056D3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B7EA4-FF1A-096D-AFFD-F570CB311B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026274-F07A-5A4B-EE0C-5DFD8B5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EDE8BF-5AE7-8592-EE9F-83445C243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34A907-F980-F3FC-8BE1-F4622B509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2113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37ACC-710B-5AEF-4D11-6E0027676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E3A551-3852-0733-EA68-6C9043E81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E24E2D-DAE0-2B29-48A0-17F029EA8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2B2B6-27DF-349D-0593-6B86A832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B9D74-2ED2-74E9-9934-CAFAE19E6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8325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8B486B-ACCC-4EDA-5112-CAFD0F505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80BEA2-D59E-614E-F4AF-A0FEB55737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ED6535-109F-9A02-6F51-E68E961E58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7D966B-D5DE-FDE1-81AC-0B4743B51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11E74C-DD58-9620-DB79-55043A277A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DF4442-7B34-59BA-6E27-B4369A21B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29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4BA508-B5B8-81C1-60F0-386BAC394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FF4F8-4D0F-E132-0420-6E7EFB8E47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9E934B-7E58-DCCC-3237-41989EC52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63B9FF-32F0-C5B3-097C-BBE544ED59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E6E4E1-00A7-2962-901D-0B5A2309C5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9C2EE8-AFF6-9102-4543-7AB95DEC6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430953-2BB7-46CD-8A65-7C348DC04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0BF3B0-046D-32FC-9168-787D3CCD5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07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E7FCB-F594-16A6-16CF-4BC17FC65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780792-DD0F-84EF-16C5-9DF7AA8F6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EF64BC-6480-F6B2-85AE-E044265A7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394D98-13AF-B403-5BCA-C735B67C4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118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F30EA0-411B-1AED-12C1-66F374FA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ED639F2-AAA1-EFF9-9973-1C179C097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3888EB-A25E-806D-4BC4-FD9C008FE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8239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B9C69-C281-86F8-61AE-3E9CC3CF0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1D34C-6602-DF02-B989-3714295D17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C61F5-2AD0-C39E-4356-97E921194F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B6CC4C-1013-6ADD-2FDB-E86C67D96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9EBF80-4373-FA93-CBE3-A4CA630EC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272FD-74C9-C4CB-12EE-ED37C6996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73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A896D-0B5D-33C0-8E37-4707AC695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9534EAF-EE6A-7B7F-9FC6-91566A2A0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9CAD54-E16A-2C77-5967-F4C0A868E0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878657-7DF2-EEC8-52AF-04E9C05805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16602C-0E6D-8F0B-C550-112FC6341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4858D-899E-9F2D-DAA6-180247CE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2439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31B29E-EAC8-E8FE-A95F-B2DE91065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0F33D-548C-6A66-4CD5-952E167715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E6D1BF-4694-9FE3-C34D-815CC1AA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EB976-408D-EECD-78CC-8DFC344C4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AFE76-C384-2990-AC3A-E698E16A3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902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5EF29E-E1F7-C3FA-D4AB-F35085AA2A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A99EB9-489B-8C54-1716-F559503B0B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43534-5961-D79A-3FFE-F0FB3C593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8BABE-2D55-3DED-86FB-5D7F22D319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5680F7-7C59-5D34-8367-B87084FE9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143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73435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DF9671-29AD-C825-3BFD-8DBE8F43F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58D389-8231-3880-D5EE-1DBC21ACD3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3C2577-3FA9-E157-93CC-A22E6E0906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2D5E4B-FDF2-4853-BE9D-1BD5AC92DD90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BAC6C7-CDEC-CBC9-2086-DC4BFAD6F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1A8EF0-3289-01F7-C61F-61CEA64BD9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A47E73-FBC3-4BC3-B5A5-AF8D9C76B3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591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5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43A5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2000"/>
          </a:blip>
          <a:stretch>
            <a:fillRect/>
          </a:stretch>
        </p:blipFill>
        <p:spPr>
          <a:xfrm>
            <a:off x="960120" y="2286000"/>
            <a:ext cx="2286000" cy="2286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594360"/>
            <a:ext cx="4206240" cy="9144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6" name="Image 1" descr="C:\Users\alahmed\OneDrive - Microsoft\Documents\Microsoft Scout\Agentic-AI-Bootcamp\assets\jhf-logo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96112" y="740664"/>
            <a:ext cx="1645920" cy="62179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34056" y="777240"/>
            <a:ext cx="13716" cy="548640"/>
          </a:xfrm>
          <a:prstGeom prst="rect">
            <a:avLst/>
          </a:prstGeom>
          <a:solidFill>
            <a:srgbClr val="E2E8F0"/>
          </a:solidFill>
          <a:ln/>
        </p:spPr>
      </p:sp>
      <p:pic>
        <p:nvPicPr>
          <p:cNvPr id="8" name="Image 2" descr="C:\Users\alahmed\OneDrive - Microsoft\Documents\Microsoft Scout\Agentic-AI-Bootcamp\assets\comcec-logo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2944368" y="740664"/>
            <a:ext cx="1645920" cy="62179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663440" y="137160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kern="0" spc="250" dirty="0">
                <a:solidFill>
                  <a:srgbClr val="18C3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PHASE 1 · FOUNDATIONS &amp; MENTAL MODELS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617720" y="1783080"/>
            <a:ext cx="7223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Agentic AI Really Is</a:t>
            </a:r>
            <a:endParaRPr lang="en-US" sz="4600" dirty="0"/>
          </a:p>
        </p:txBody>
      </p:sp>
      <p:sp>
        <p:nvSpPr>
          <p:cNvPr id="11" name="Text 6"/>
          <p:cNvSpPr/>
          <p:nvPr/>
        </p:nvSpPr>
        <p:spPr>
          <a:xfrm>
            <a:off x="4663440" y="324612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calls vs. workflows vs. autonomous agents — and the loop that powers them all.</a:t>
            </a:r>
            <a:endParaRPr lang="en-US" sz="1700" dirty="0"/>
          </a:p>
        </p:txBody>
      </p:sp>
      <p:sp>
        <p:nvSpPr>
          <p:cNvPr id="12" name="Shape 7"/>
          <p:cNvSpPr/>
          <p:nvPr/>
        </p:nvSpPr>
        <p:spPr>
          <a:xfrm>
            <a:off x="4663440" y="4114800"/>
            <a:ext cx="3108960" cy="27432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13" name="Text 8"/>
          <p:cNvSpPr/>
          <p:nvPr/>
        </p:nvSpPr>
        <p:spPr>
          <a:xfrm>
            <a:off x="4663440" y="4297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</a:t>
            </a:r>
            <a:r>
              <a:rPr lang="en-US" sz="14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4 hours  ·  Build an agent from scratch (no frameworks)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4663440" y="54406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8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Trainers   </a:t>
            </a:r>
            <a:r>
              <a:rPr lang="en-US" sz="1300" dirty="0">
                <a:solidFill>
                  <a:srgbClr val="C7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Alaaldin Ahmed   ·   Mohammed Abu Alhalaweih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663440" y="57607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E97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Jerusalem High-Tech Foundry (JHF)  ·  In partnership with COMCEC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26324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78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After this module, you can…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698480" y="502920"/>
            <a:ext cx="822960" cy="822960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2450" y="716890"/>
            <a:ext cx="395021" cy="395021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48640" y="187452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874520"/>
            <a:ext cx="82296" cy="1783080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9" name="Shape 6"/>
          <p:cNvSpPr/>
          <p:nvPr/>
        </p:nvSpPr>
        <p:spPr>
          <a:xfrm>
            <a:off x="868680" y="2331720"/>
            <a:ext cx="868680" cy="86868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8C3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1920240" y="21488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 single LLM call, a workflow, and an autonomous agent.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6263640" y="187452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874520"/>
            <a:ext cx="82296" cy="1783080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14" name="Shape 11"/>
          <p:cNvSpPr/>
          <p:nvPr/>
        </p:nvSpPr>
        <p:spPr>
          <a:xfrm>
            <a:off x="6583680" y="2331720"/>
            <a:ext cx="868680" cy="86868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15" name="Text 12"/>
          <p:cNvSpPr/>
          <p:nvPr/>
        </p:nvSpPr>
        <p:spPr>
          <a:xfrm>
            <a:off x="6583680" y="233172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8C3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3400" dirty="0"/>
          </a:p>
        </p:txBody>
      </p:sp>
      <p:sp>
        <p:nvSpPr>
          <p:cNvPr id="16" name="Text 13"/>
          <p:cNvSpPr/>
          <p:nvPr/>
        </p:nvSpPr>
        <p:spPr>
          <a:xfrm>
            <a:off x="7635240" y="214884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agent loop and its stopping condition.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548640" y="397764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" y="3977640"/>
            <a:ext cx="82296" cy="1783080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19" name="Shape 16"/>
          <p:cNvSpPr/>
          <p:nvPr/>
        </p:nvSpPr>
        <p:spPr>
          <a:xfrm>
            <a:off x="868680" y="4434840"/>
            <a:ext cx="868680" cy="86868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8C3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3400" dirty="0"/>
          </a:p>
        </p:txBody>
      </p:sp>
      <p:sp>
        <p:nvSpPr>
          <p:cNvPr id="21" name="Text 18"/>
          <p:cNvSpPr/>
          <p:nvPr/>
        </p:nvSpPr>
        <p:spPr>
          <a:xfrm>
            <a:off x="1920240" y="425196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when NOT to use an agent.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6263640" y="3977640"/>
            <a:ext cx="5349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6263640" y="3977640"/>
            <a:ext cx="82296" cy="1783080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24" name="Shape 21"/>
          <p:cNvSpPr/>
          <p:nvPr/>
        </p:nvSpPr>
        <p:spPr>
          <a:xfrm>
            <a:off x="6583680" y="4434840"/>
            <a:ext cx="868680" cy="868680"/>
          </a:xfrm>
          <a:prstGeom prst="ellipse">
            <a:avLst/>
          </a:prstGeom>
          <a:solidFill>
            <a:srgbClr val="0E2A47"/>
          </a:solidFill>
          <a:ln/>
        </p:spPr>
      </p:sp>
      <p:sp>
        <p:nvSpPr>
          <p:cNvPr id="25" name="Text 22"/>
          <p:cNvSpPr/>
          <p:nvPr/>
        </p:nvSpPr>
        <p:spPr>
          <a:xfrm>
            <a:off x="6583680" y="44348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8C3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3400" dirty="0"/>
          </a:p>
        </p:txBody>
      </p:sp>
      <p:sp>
        <p:nvSpPr>
          <p:cNvPr id="26" name="Text 23"/>
          <p:cNvSpPr/>
          <p:nvPr/>
        </p:nvSpPr>
        <p:spPr>
          <a:xfrm>
            <a:off x="7635240" y="4251960"/>
            <a:ext cx="3749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framework-free agent loop that uses a tool, loops, and stops safely.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JHF × COMCEC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7116775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What Agentic AI Really Is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1104869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85486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78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THE AGENCY SPECTRUM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decides the next step?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3611880" cy="1097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1970532" y="2148840"/>
            <a:ext cx="768096" cy="768096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0237" y="2348545"/>
            <a:ext cx="368686" cy="36868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9992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Single LLM call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34930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decide, once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68680" y="4069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“Summarize this paragraph.”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an agent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398264" y="1828800"/>
            <a:ext cx="3611880" cy="33832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98264" y="1828800"/>
            <a:ext cx="3611880" cy="109728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14" name="Shape 11"/>
          <p:cNvSpPr/>
          <p:nvPr/>
        </p:nvSpPr>
        <p:spPr>
          <a:xfrm>
            <a:off x="5820156" y="2148840"/>
            <a:ext cx="768096" cy="768096"/>
          </a:xfrm>
          <a:prstGeom prst="ellipse">
            <a:avLst/>
          </a:prstGeom>
          <a:solidFill>
            <a:srgbClr val="18C3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9861" y="2348545"/>
            <a:ext cx="368686" cy="36868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398264" y="29992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Workflow / chain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4626864" y="34930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You, in advance (fixed)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718304" y="4069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→ translate → email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pipeline, not an agent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8247888" y="1828800"/>
            <a:ext cx="3611880" cy="3383280"/>
          </a:xfrm>
          <a:prstGeom prst="rect">
            <a:avLst/>
          </a:prstGeom>
          <a:solidFill>
            <a:srgbClr val="0E2A47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247888" y="1828800"/>
            <a:ext cx="3611880" cy="109728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21" name="Shape 17"/>
          <p:cNvSpPr/>
          <p:nvPr/>
        </p:nvSpPr>
        <p:spPr>
          <a:xfrm>
            <a:off x="9669780" y="2148840"/>
            <a:ext cx="768096" cy="76809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9485" y="2348545"/>
            <a:ext cx="368686" cy="36868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247888" y="299923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Autonomous agent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8476488" y="3493008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model, at runtime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567928" y="4069080"/>
            <a:ext cx="3063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7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“Plan &amp; book a room next week.”</a:t>
            </a:r>
            <a:endParaRPr lang="en-US" sz="125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50" dirty="0">
                <a:solidFill>
                  <a:srgbClr val="C7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true agency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48640" y="548640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dividing line:</a:t>
            </a: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 agent lets the model choose control flow while running — a workflow has its steps fixed by the developer.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JHF × COMCEC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7116775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What Agentic AI Really Is</a:t>
            </a:r>
            <a:endParaRPr lang="en-US" sz="1000" dirty="0"/>
          </a:p>
        </p:txBody>
      </p:sp>
      <p:sp>
        <p:nvSpPr>
          <p:cNvPr id="29" name="Text 24"/>
          <p:cNvSpPr/>
          <p:nvPr/>
        </p:nvSpPr>
        <p:spPr>
          <a:xfrm>
            <a:off x="1104869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261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78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 · THE AGENCY SPECTRUM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Agency ≠ a smart model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5349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1234440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2125980"/>
            <a:ext cx="640080" cy="640080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22924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19933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Myth busted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645920" y="239572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“It uses a powerful LLM, so it's an agent.” False — a chatbot that only answers is not an agent.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63640" y="1828800"/>
            <a:ext cx="5349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63640" y="1828800"/>
            <a:ext cx="82296" cy="1234440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13" name="Shape 10"/>
          <p:cNvSpPr/>
          <p:nvPr/>
        </p:nvSpPr>
        <p:spPr>
          <a:xfrm>
            <a:off x="6537960" y="2125980"/>
            <a:ext cx="640080" cy="640080"/>
          </a:xfrm>
          <a:prstGeom prst="ellipse">
            <a:avLst/>
          </a:prstGeom>
          <a:solidFill>
            <a:srgbClr val="18C3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4381" y="229240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360920" y="199339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Agency = action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360920" y="239572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takes actions and observes results to decide what to do next.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48640" y="3337560"/>
            <a:ext cx="5349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48640" y="3337560"/>
            <a:ext cx="82296" cy="123444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9" name="Shape 15"/>
          <p:cNvSpPr/>
          <p:nvPr/>
        </p:nvSpPr>
        <p:spPr>
          <a:xfrm>
            <a:off x="822960" y="3634740"/>
            <a:ext cx="640080" cy="640080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9381" y="380116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45920" y="35021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More agency, more cost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1645920" y="39044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capability, but also more cost, latency and unpredictability.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6263640" y="3337560"/>
            <a:ext cx="534924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263640" y="3337560"/>
            <a:ext cx="82296" cy="1234440"/>
          </a:xfrm>
          <a:prstGeom prst="rect">
            <a:avLst/>
          </a:prstGeom>
          <a:solidFill>
            <a:srgbClr val="27AE8F"/>
          </a:solidFill>
          <a:ln/>
        </p:spPr>
      </p:sp>
      <p:sp>
        <p:nvSpPr>
          <p:cNvPr id="25" name="Shape 20"/>
          <p:cNvSpPr/>
          <p:nvPr/>
        </p:nvSpPr>
        <p:spPr>
          <a:xfrm>
            <a:off x="6537960" y="3634740"/>
            <a:ext cx="640080" cy="640080"/>
          </a:xfrm>
          <a:prstGeom prst="ellipse">
            <a:avLst/>
          </a:prstGeom>
          <a:solidFill>
            <a:srgbClr val="27AE8F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04381" y="3801161"/>
            <a:ext cx="307238" cy="307238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360920" y="350215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Constrained agents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360920" y="3904488"/>
            <a:ext cx="4069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2026, most real systems are autonomy inside guardrails.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solidFill>
            <a:srgbClr val="0E2A47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55321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8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engineering: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use the least agency that solves the problem.</a:t>
            </a:r>
            <a:endParaRPr lang="en-US" sz="1400" dirty="0"/>
          </a:p>
        </p:txBody>
      </p:sp>
      <p:sp>
        <p:nvSpPr>
          <p:cNvPr id="31" name="Text 25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JHF × COMCEC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116775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What Agentic AI Really Is</a:t>
            </a:r>
            <a:endParaRPr lang="en-US" sz="1000" dirty="0"/>
          </a:p>
        </p:txBody>
      </p:sp>
      <p:sp>
        <p:nvSpPr>
          <p:cNvPr id="33" name="Text 27"/>
          <p:cNvSpPr/>
          <p:nvPr/>
        </p:nvSpPr>
        <p:spPr>
          <a:xfrm>
            <a:off x="1104869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5863417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8C3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· THE HEART OF EVERYTHING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Agent Loop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66928" y="2194560"/>
            <a:ext cx="2478024" cy="182880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 w="25400">
            <a:solidFill>
              <a:srgbClr val="0078D4"/>
            </a:solidFill>
            <a:prstDash val="solid"/>
          </a:ln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421892" y="2450592"/>
            <a:ext cx="768096" cy="768096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1597" y="2650297"/>
            <a:ext cx="368686" cy="36868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66928" y="32918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PERCEIVE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58368" y="3621024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+ context</a:t>
            </a:r>
            <a:endParaRPr lang="en-US" sz="11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1528" y="2971800"/>
            <a:ext cx="310896" cy="31089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29000" y="2194560"/>
            <a:ext cx="2478024" cy="182880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 w="25400">
            <a:solidFill>
              <a:srgbClr val="18C3D4"/>
            </a:solidFill>
            <a:prstDash val="solid"/>
          </a:ln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283964" y="2450592"/>
            <a:ext cx="768096" cy="768096"/>
          </a:xfrm>
          <a:prstGeom prst="ellipse">
            <a:avLst/>
          </a:prstGeom>
          <a:solidFill>
            <a:srgbClr val="18C3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3669" y="2650297"/>
            <a:ext cx="368686" cy="36868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29000" y="32918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REASON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520440" y="3621024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next action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2971800"/>
            <a:ext cx="310896" cy="310896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6291072" y="2194560"/>
            <a:ext cx="2478024" cy="182880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 w="25400">
            <a:solidFill>
              <a:srgbClr val="F5A623"/>
            </a:solidFill>
            <a:prstDash val="solid"/>
          </a:ln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7146036" y="2450592"/>
            <a:ext cx="768096" cy="768096"/>
          </a:xfrm>
          <a:prstGeom prst="ellipse">
            <a:avLst/>
          </a:prstGeom>
          <a:solidFill>
            <a:srgbClr val="F5A623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5741" y="2650297"/>
            <a:ext cx="368686" cy="368686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291072" y="32918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</a:t>
            </a:r>
            <a:endParaRPr lang="en-US" sz="1600" dirty="0"/>
          </a:p>
        </p:txBody>
      </p:sp>
      <p:sp>
        <p:nvSpPr>
          <p:cNvPr id="21" name="Text 14"/>
          <p:cNvSpPr/>
          <p:nvPr/>
        </p:nvSpPr>
        <p:spPr>
          <a:xfrm>
            <a:off x="6382512" y="3621024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runs a tool</a:t>
            </a:r>
            <a:endParaRPr lang="en-US" sz="1150" dirty="0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05672" y="2971800"/>
            <a:ext cx="310896" cy="310896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9153144" y="2194560"/>
            <a:ext cx="2478024" cy="182880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 w="25400">
            <a:solidFill>
              <a:srgbClr val="27AE8F"/>
            </a:solidFill>
            <a:prstDash val="solid"/>
          </a:ln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24" name="Shape 16"/>
          <p:cNvSpPr/>
          <p:nvPr/>
        </p:nvSpPr>
        <p:spPr>
          <a:xfrm>
            <a:off x="10008108" y="2450592"/>
            <a:ext cx="768096" cy="768096"/>
          </a:xfrm>
          <a:prstGeom prst="ellipse">
            <a:avLst/>
          </a:prstGeom>
          <a:solidFill>
            <a:srgbClr val="27AE8F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207813" y="2650297"/>
            <a:ext cx="368686" cy="368686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9153144" y="3291840"/>
            <a:ext cx="24780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OBSERVE</a:t>
            </a:r>
            <a:endParaRPr lang="en-US" sz="1600" dirty="0"/>
          </a:p>
        </p:txBody>
      </p:sp>
      <p:sp>
        <p:nvSpPr>
          <p:cNvPr id="27" name="Text 18"/>
          <p:cNvSpPr/>
          <p:nvPr/>
        </p:nvSpPr>
        <p:spPr>
          <a:xfrm>
            <a:off x="9244584" y="3621024"/>
            <a:ext cx="22951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→ context</a:t>
            </a:r>
            <a:endParaRPr lang="en-US" sz="1150" dirty="0"/>
          </a:p>
        </p:txBody>
      </p:sp>
      <p:sp>
        <p:nvSpPr>
          <p:cNvPr id="28" name="Shape 19"/>
          <p:cNvSpPr/>
          <p:nvPr/>
        </p:nvSpPr>
        <p:spPr>
          <a:xfrm>
            <a:off x="566928" y="4389120"/>
            <a:ext cx="11064240" cy="548640"/>
          </a:xfrm>
          <a:prstGeom prst="roundRect">
            <a:avLst>
              <a:gd name="adj" fmla="val 16667"/>
            </a:avLst>
          </a:prstGeom>
          <a:solidFill>
            <a:srgbClr val="0A2138"/>
          </a:solidFill>
          <a:ln w="12700">
            <a:solidFill>
              <a:srgbClr val="18C3D4"/>
            </a:solidFill>
            <a:prstDash val="dash"/>
          </a:ln>
        </p:spPr>
      </p:sp>
      <p:sp>
        <p:nvSpPr>
          <p:cNvPr id="29" name="Text 20"/>
          <p:cNvSpPr/>
          <p:nvPr/>
        </p:nvSpPr>
        <p:spPr>
          <a:xfrm>
            <a:off x="566928" y="4389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 </a:t>
            </a:r>
            <a:r>
              <a:rPr lang="en-US" sz="1400" b="1" dirty="0">
                <a:solidFill>
                  <a:srgbClr val="18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until DONE</a:t>
            </a:r>
            <a:r>
              <a:rPr lang="en-US" sz="1400" dirty="0">
                <a:solidFill>
                  <a:srgbClr val="C7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final answer, or a hard cap (max steps / max cost) is hit.</a:t>
            </a:r>
            <a:endParaRPr lang="en-US" sz="1400" dirty="0"/>
          </a:p>
        </p:txBody>
      </p:sp>
      <p:sp>
        <p:nvSpPr>
          <p:cNvPr id="30" name="Text 21"/>
          <p:cNvSpPr/>
          <p:nvPr/>
        </p:nvSpPr>
        <p:spPr>
          <a:xfrm>
            <a:off x="566928" y="55321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🔑 </a:t>
            </a:r>
            <a:r>
              <a:rPr lang="en-US" sz="1400" b="1" dirty="0">
                <a:solidFill>
                  <a:srgbClr val="18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decides; your harness does.</a:t>
            </a:r>
            <a:r>
              <a:rPr lang="en-US" sz="1400" dirty="0">
                <a:solidFill>
                  <a:srgbClr val="C7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framework in this bootcamp is a fancier version of this split.</a:t>
            </a:r>
            <a:endParaRPr lang="en-US" sz="1400" dirty="0"/>
          </a:p>
        </p:txBody>
      </p:sp>
      <p:sp>
        <p:nvSpPr>
          <p:cNvPr id="31" name="Text 22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8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</a:t>
            </a:r>
            <a:r>
              <a:rPr lang="en-US" sz="10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JHF × COMCEC</a:t>
            </a:r>
            <a:endParaRPr lang="en-US" sz="1000" dirty="0"/>
          </a:p>
        </p:txBody>
      </p:sp>
      <p:sp>
        <p:nvSpPr>
          <p:cNvPr id="32" name="Text 23"/>
          <p:cNvSpPr/>
          <p:nvPr/>
        </p:nvSpPr>
        <p:spPr>
          <a:xfrm>
            <a:off x="7116775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What Agentic AI Really Is</a:t>
            </a:r>
            <a:endParaRPr lang="en-US" sz="1000" dirty="0"/>
          </a:p>
        </p:txBody>
      </p:sp>
      <p:sp>
        <p:nvSpPr>
          <p:cNvPr id="33" name="Text 24"/>
          <p:cNvSpPr/>
          <p:nvPr/>
        </p:nvSpPr>
        <p:spPr>
          <a:xfrm>
            <a:off x="1104869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15719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78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· COST &amp; TOKEN ECONOMICS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Autonomy has a price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4206240" cy="3200400"/>
          </a:xfrm>
          <a:prstGeom prst="rect">
            <a:avLst/>
          </a:prstGeom>
          <a:solidFill>
            <a:srgbClr val="0E2A47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331720" y="2148840"/>
            <a:ext cx="731520" cy="731520"/>
          </a:xfrm>
          <a:prstGeom prst="ellipse">
            <a:avLst/>
          </a:prstGeom>
          <a:solidFill>
            <a:srgbClr val="18C3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1915" y="2339035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2834640"/>
            <a:ext cx="4206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b="1" dirty="0">
                <a:solidFill>
                  <a:srgbClr val="18C3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6×+</a:t>
            </a:r>
            <a:endParaRPr lang="en-US" sz="7200" dirty="0"/>
          </a:p>
        </p:txBody>
      </p:sp>
      <p:sp>
        <p:nvSpPr>
          <p:cNvPr id="9" name="Text 6"/>
          <p:cNvSpPr/>
          <p:nvPr/>
        </p:nvSpPr>
        <p:spPr>
          <a:xfrm>
            <a:off x="777240" y="397764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6-step agent costs more than 6× a single call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029200" y="1874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grows super-linearly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5120640" y="2331720"/>
            <a:ext cx="6400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loop step is at least one LLM call.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grows every step — history piles up.</a:t>
            </a:r>
            <a:endParaRPr lang="en-US" sz="14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N-step agent can cost far more than N× a single call.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5029200" y="5074920"/>
            <a:ext cx="6583680" cy="822960"/>
          </a:xfrm>
          <a:prstGeom prst="rect">
            <a:avLst/>
          </a:prstGeom>
          <a:solidFill>
            <a:srgbClr val="F4F7FB"/>
          </a:solidFill>
          <a:ln/>
        </p:spPr>
      </p:sp>
      <p:sp>
        <p:nvSpPr>
          <p:cNvPr id="13" name="Shape 10"/>
          <p:cNvSpPr/>
          <p:nvPr/>
        </p:nvSpPr>
        <p:spPr>
          <a:xfrm>
            <a:off x="5029200" y="5074920"/>
            <a:ext cx="82296" cy="822960"/>
          </a:xfrm>
          <a:prstGeom prst="rect">
            <a:avLst/>
          </a:prstGeom>
          <a:solidFill>
            <a:srgbClr val="F5A623"/>
          </a:solidFill>
          <a:ln/>
        </p:spPr>
      </p:sp>
      <p:sp>
        <p:nvSpPr>
          <p:cNvPr id="14" name="Text 11"/>
          <p:cNvSpPr/>
          <p:nvPr/>
        </p:nvSpPr>
        <p:spPr>
          <a:xfrm>
            <a:off x="5257800" y="507492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habits: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step budget (max_steps) and a cost counter on every run.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JHF × COMCEC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116775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What Agentic AI Really Is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04869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67670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18C3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HANDS-ON LAB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Today's Lab — agent_loop.py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10744200" y="502920"/>
            <a:ext cx="822960" cy="822960"/>
          </a:xfrm>
          <a:prstGeom prst="ellipse">
            <a:avLst/>
          </a:prstGeom>
          <a:solidFill>
            <a:srgbClr val="18C3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58170" y="71689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66928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D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agent that, given a question, decides whether to use a calculator tool or give a final answer — looping while feeding results back, and stopping safely.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566928" y="2880360"/>
            <a:ext cx="11064240" cy="1417320"/>
          </a:xfrm>
          <a:prstGeom prst="rect">
            <a:avLst/>
          </a:prstGeom>
          <a:solidFill>
            <a:srgbClr val="143A5E"/>
          </a:solidFill>
          <a:ln w="19050">
            <a:solidFill>
              <a:srgbClr val="18C3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3054096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8C3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DEFINITION OF DONE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40156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agent solves “What is (23 × 19) + 100, and is that more than 500?” by choosing tools on its own — no hardcoded steps — and stops at a final answer.</a:t>
            </a:r>
            <a:endParaRPr lang="en-US" sz="1550" dirty="0"/>
          </a:p>
        </p:txBody>
      </p:sp>
      <p:sp>
        <p:nvSpPr>
          <p:cNvPr id="11" name="Shape 8"/>
          <p:cNvSpPr/>
          <p:nvPr/>
        </p:nvSpPr>
        <p:spPr>
          <a:xfrm>
            <a:off x="566928" y="4617720"/>
            <a:ext cx="5349240" cy="914400"/>
          </a:xfrm>
          <a:prstGeom prst="rect">
            <a:avLst/>
          </a:prstGeom>
          <a:solidFill>
            <a:srgbClr val="0A2138"/>
          </a:solidFill>
          <a:ln w="12700">
            <a:solidFill>
              <a:srgbClr val="21466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22960" y="4800600"/>
            <a:ext cx="548640" cy="548640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4943246"/>
            <a:ext cx="263347" cy="26334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527048" y="47365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C3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M1-Lab-Worksheet.md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1527048" y="5120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instructions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281928" y="4617720"/>
            <a:ext cx="5349240" cy="914400"/>
          </a:xfrm>
          <a:prstGeom prst="rect">
            <a:avLst/>
          </a:prstGeom>
          <a:solidFill>
            <a:srgbClr val="0A2138"/>
          </a:solidFill>
          <a:ln w="12700">
            <a:solidFill>
              <a:srgbClr val="21466B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537960" y="4800600"/>
            <a:ext cx="548640" cy="548640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0606" y="4943246"/>
            <a:ext cx="263347" cy="26334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242048" y="4736592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8C3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starter-code/agent_loop_starter.py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7242048" y="5120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starting point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8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</a:t>
            </a:r>
            <a:r>
              <a:rPr lang="en-US" sz="10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JHF × COMCEC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116775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What Agentic AI Really Is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1104869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440765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0078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REFERENCE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30352" y="74980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terms to take away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593592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828800"/>
            <a:ext cx="82296" cy="1554480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7" name="Shape 5"/>
          <p:cNvSpPr/>
          <p:nvPr/>
        </p:nvSpPr>
        <p:spPr>
          <a:xfrm>
            <a:off x="804672" y="2066544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2073" y="2213945"/>
            <a:ext cx="272125" cy="27212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2048256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2670048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where the model chooses actions at runtime to pursue a goal.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389120" y="1828800"/>
            <a:ext cx="3593592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89120" y="1828800"/>
            <a:ext cx="82296" cy="1554480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13" name="Shape 10"/>
          <p:cNvSpPr/>
          <p:nvPr/>
        </p:nvSpPr>
        <p:spPr>
          <a:xfrm>
            <a:off x="4645152" y="2066544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2553" y="2213945"/>
            <a:ext cx="272125" cy="27212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349240" y="2048256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Agent loop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63440" y="2670048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Perceive → Reason → Act → Observe, repeated until done.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229600" y="1828800"/>
            <a:ext cx="3593592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229600" y="1828800"/>
            <a:ext cx="82296" cy="1554480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19" name="Shape 15"/>
          <p:cNvSpPr/>
          <p:nvPr/>
        </p:nvSpPr>
        <p:spPr>
          <a:xfrm>
            <a:off x="8485632" y="2066544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3033" y="2213945"/>
            <a:ext cx="272125" cy="27212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189720" y="2048256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8503920" y="2670048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the agent can call to act on the world.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548640" y="3657600"/>
            <a:ext cx="3593592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48640" y="3657600"/>
            <a:ext cx="82296" cy="1554480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25" name="Shape 20"/>
          <p:cNvSpPr/>
          <p:nvPr/>
        </p:nvSpPr>
        <p:spPr>
          <a:xfrm>
            <a:off x="804672" y="3895344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073" y="4042745"/>
            <a:ext cx="272125" cy="27212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508760" y="3877056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Harness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822960" y="4498848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 that runs the loop and executes the chosen tools.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389120" y="3657600"/>
            <a:ext cx="3593592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389120" y="3657600"/>
            <a:ext cx="82296" cy="1554480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31" name="Shape 25"/>
          <p:cNvSpPr/>
          <p:nvPr/>
        </p:nvSpPr>
        <p:spPr>
          <a:xfrm>
            <a:off x="4645152" y="3895344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2553" y="4042745"/>
            <a:ext cx="272125" cy="27212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349240" y="3877056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Stopping condition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4663440" y="4498848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final answer, or a hard budget cap.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229600" y="3657600"/>
            <a:ext cx="3593592" cy="1554480"/>
          </a:xfrm>
          <a:prstGeom prst="rect">
            <a:avLst/>
          </a:prstGeom>
          <a:solidFill>
            <a:srgbClr val="FFFFFF"/>
          </a:solidFill>
          <a:ln/>
          <a:effectLst>
            <a:outerShdw blurRad="114300" dist="38100" dir="5400000" algn="bl" rotWithShape="0">
              <a:srgbClr val="0E2A47">
                <a:alpha val="16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229600" y="3657600"/>
            <a:ext cx="82296" cy="1554480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37" name="Shape 30"/>
          <p:cNvSpPr/>
          <p:nvPr/>
        </p:nvSpPr>
        <p:spPr>
          <a:xfrm>
            <a:off x="8485632" y="3895344"/>
            <a:ext cx="566928" cy="566928"/>
          </a:xfrm>
          <a:prstGeom prst="ellipse">
            <a:avLst/>
          </a:prstGeom>
          <a:solidFill>
            <a:srgbClr val="0078D4"/>
          </a:solidFill>
          <a:ln/>
          <a:effectLst>
            <a:outerShdw blurRad="76200" dist="25400" dir="5400000" algn="bl" rotWithShape="0">
              <a:srgbClr val="0E2A47">
                <a:alpha val="16000"/>
              </a:srgbClr>
            </a:outerShdw>
          </a:effectLst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33033" y="4042745"/>
            <a:ext cx="272125" cy="27212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189720" y="3877056"/>
            <a:ext cx="2496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2A4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 budget</a:t>
            </a:r>
            <a:endParaRPr lang="en-US" sz="1500" dirty="0"/>
          </a:p>
        </p:txBody>
      </p:sp>
      <p:sp>
        <p:nvSpPr>
          <p:cNvPr id="40" name="Text 32"/>
          <p:cNvSpPr/>
          <p:nvPr/>
        </p:nvSpPr>
        <p:spPr>
          <a:xfrm>
            <a:off x="8503920" y="4498848"/>
            <a:ext cx="3090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iterations allowed — prevents runaway loops.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JHF × COMCEC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7116775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What Agentic AI Really Is</a:t>
            </a:r>
            <a:endParaRPr lang="en-US" sz="1000" dirty="0"/>
          </a:p>
        </p:txBody>
      </p:sp>
      <p:sp>
        <p:nvSpPr>
          <p:cNvPr id="43" name="Text 35"/>
          <p:cNvSpPr/>
          <p:nvPr/>
        </p:nvSpPr>
        <p:spPr>
          <a:xfrm>
            <a:off x="1104869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8679114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8C3D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143A5E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914400" y="2194560"/>
            <a:ext cx="2194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480560" y="1234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18C3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CHECK YOURSELF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434840" y="160020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Quick Quiz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0" y="2560320"/>
            <a:ext cx="70408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D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single property most distinguishes an agent from a workflow?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D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four stages of the agent loop.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D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actually executes a tool — the model or your code?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D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must you always have a hard step / cost cap?</a:t>
            </a:r>
            <a:endParaRPr lang="en-US" sz="1450" dirty="0"/>
          </a:p>
          <a:p>
            <a:pPr marL="342900" indent="-342900">
              <a:spcAft>
                <a:spcPts val="800"/>
              </a:spcAft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DCE8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one task where an agent is the wrong choice.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4480560" y="5806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8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2 — Architectures &amp; the 2026 Stack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0292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8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Bootcamp</a:t>
            </a:r>
            <a:r>
              <a:rPr lang="en-US" sz="10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JHF × COMCEC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16775" y="6400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· What Agentic AI Really Is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04869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8C3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704177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868</Words>
  <Application>Microsoft Office PowerPoint</Application>
  <PresentationFormat>Custom</PresentationFormat>
  <Paragraphs>127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Consolas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Alaaldin Ahmed</dc:creator>
  <cp:lastModifiedBy>Alaaldin Ahmed</cp:lastModifiedBy>
  <cp:revision>1</cp:revision>
  <dcterms:created xsi:type="dcterms:W3CDTF">2026-07-31T12:55:53Z</dcterms:created>
  <dcterms:modified xsi:type="dcterms:W3CDTF">2026-07-31T12:55:54Z</dcterms:modified>
</cp:coreProperties>
</file>