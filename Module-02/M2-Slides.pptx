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4E40A-8521-4429-FB34-37136D76F8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476E4D-39F8-0215-E803-4C8EB409C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5CA6C-8EA2-01CD-0A4E-50C2D6213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087D5-02A9-4B20-928C-C2584A4EB78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E6388-CBD5-364D-99C5-3E46C9243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A79E0-0B01-E440-A530-8FEFC8E2E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BD948-858F-41BE-A8AC-7DB92EDDF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09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A6DF8-B527-05C3-7473-3D6E75AA2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DFE13-6E81-D4A7-212C-46CC396DB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E3059-3E5D-CB20-29B3-AAB9F1FD9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087D5-02A9-4B20-928C-C2584A4EB78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98FDA-21F0-B397-4EDD-62E7073BD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319B0-BFFE-038A-3192-E8B8AF059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BD948-858F-41BE-A8AC-7DB92EDDF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635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6A72A-E076-CE46-F2F8-D74E8AA2F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B5460-CEBF-4432-4AFC-E57D9A75B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0A239-A0AD-E0DC-23E2-D33066504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087D5-02A9-4B20-928C-C2584A4EB78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F38E1-C827-07CD-132C-96CE31184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C3666-39D9-450B-50D5-E7BEE45ED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BD948-858F-41BE-A8AC-7DB92EDDF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134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AE0DD-7F87-C4C8-88CE-D9FCCC542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ECE17-9A52-B2D6-AF90-8F500F21B0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C4356-D288-2CBB-24EF-5A85D35EA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6D6C16-9F8D-E847-70B8-0DE98F48C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087D5-02A9-4B20-928C-C2584A4EB78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130F21-36D8-6CDF-6F14-49B003471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5BD84-DC24-80B9-5612-5454D1057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BD948-858F-41BE-A8AC-7DB92EDDF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065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3B9F4-FCCD-E0E6-5F39-D66007037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47F8B-EF18-F96C-D1D5-D7A306A09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0971D-605C-06D9-C467-B82E5FBB25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354FB5-78A0-B962-881F-5E7E8A7FE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97E4D5-F38D-9BF0-E18C-3A98C0EED5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33454D-44C2-EB9C-D4EF-23BF63C6D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087D5-02A9-4B20-928C-C2584A4EB78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E00E7-B649-AFF3-435D-E6E7B5B6E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1F935E-B237-443D-F1DC-C044EF8BA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BD948-858F-41BE-A8AC-7DB92EDDF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599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6CC63-2355-6F23-3A7D-90CB00542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B7AFFB-FBB4-189A-205D-52AF5E129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087D5-02A9-4B20-928C-C2584A4EB78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CE4F1D-7595-8E42-0904-E853FC94A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19FB5-EA07-2D95-961F-3558257DB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BD948-858F-41BE-A8AC-7DB92EDDF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074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0EE33F-C930-8BF1-3ADA-4CED2AE89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087D5-02A9-4B20-928C-C2584A4EB78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FB8E3-8D4F-2038-11B5-68853D2E6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36D80-ECB4-C7C0-4B2E-4046C1D14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BD948-858F-41BE-A8AC-7DB92EDDF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62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49763-2427-074B-222C-FA805785E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FE616-4882-4C4D-FAC9-2A152E9B4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8435A5-7CBE-D240-7D01-4D9E325467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F6012-DC92-BB5B-E4C8-EAA604F5C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087D5-02A9-4B20-928C-C2584A4EB78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6D4BF-9E0D-9A8A-EC0F-5888D700C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27CB9D-127E-60DE-6B87-C65E457A4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BD948-858F-41BE-A8AC-7DB92EDDF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119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605C8-2141-107F-E318-A5A3F58CD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A99D47-642D-1FA2-25E6-885B110E8A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4B4ED-2DEC-E8E4-7D12-51F8917366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D05B14-57CD-EAAE-646C-CF67EB189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087D5-02A9-4B20-928C-C2584A4EB78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E8C18-80AE-464A-21D8-02F97DE65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A85C2-EE80-A788-5399-75328E36A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BD948-858F-41BE-A8AC-7DB92EDDF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335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9BAC6-9F1A-2736-10D9-A9AE34BA2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5D0ED6-BC63-6850-6142-7149B0A4C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11889-A621-5923-7986-CCD83A7F2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087D5-02A9-4B20-928C-C2584A4EB78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F216B-076B-DEF2-B216-1860D3700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BE4C6-A66C-94B1-3F99-CB100862D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BD948-858F-41BE-A8AC-7DB92EDDF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441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DAB1F7-5905-FC6F-8046-44F3264A34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46B5AB-5448-E215-8AE8-8A12713A3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6F2B6-DCBE-6809-7DE3-509F7E53F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087D5-02A9-4B20-928C-C2584A4EB78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A7C63-F1C5-A887-DA5A-48133E65B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6F3F0-DBE9-E4CC-94C9-4B017982E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BD948-858F-41BE-A8AC-7DB92EDDF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71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0D82AB-3296-AB40-A045-C3201DBDB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B3FA6B-C556-7627-85CB-B0CEA9D2A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4F6CC-4B07-A13B-0980-3015C3EC1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3087D5-02A9-4B20-928C-C2584A4EB78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7FD48-EA6B-358C-7E05-5F85B293C6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724C3-31E0-E7FA-CA4C-64A203E62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8BD948-858F-41BE-A8AC-7DB92EDDF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43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onut 4"/>
          <p:cNvSpPr/>
          <p:nvPr/>
        </p:nvSpPr>
        <p:spPr>
          <a:xfrm>
            <a:off x="822960" y="2468880"/>
            <a:ext cx="2560320" cy="2560320"/>
          </a:xfrm>
          <a:prstGeom prst="donut">
            <a:avLst>
              <a:gd name="adj" fmla="val 12000"/>
            </a:avLst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0" y="73152"/>
            <a:ext cx="420624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jhf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25" y="326406"/>
            <a:ext cx="1645920" cy="2565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329892" y="210312"/>
            <a:ext cx="10972" cy="5486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omcec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776" y="182880"/>
            <a:ext cx="603504" cy="6035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3440" y="1371600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8C3D4"/>
                </a:solidFill>
                <a:latin typeface="Trebuchet MS"/>
              </a:rPr>
              <a:t>PHASE 1 · FOUNDATIONS &amp; MENTAL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783080"/>
            <a:ext cx="72237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>
                <a:solidFill>
                  <a:srgbClr val="FFFFFF"/>
                </a:solidFill>
                <a:latin typeface="Trebuchet MS"/>
              </a:rPr>
              <a:t>Architectures &amp; the 2026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91840"/>
            <a:ext cx="6949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C7D8E8"/>
                </a:solidFill>
                <a:latin typeface="Calibri"/>
              </a:rPr>
              <a:t>The reference architecture of an agentic system — and the two frameworks (LangGraph, CrewAI) plus protocols (MCP, A2A) we build 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4224528"/>
            <a:ext cx="3108960" cy="32004"/>
          </a:xfrm>
          <a:prstGeom prst="rect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438912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Module 2  ·  4 hours  ·  Hello-agent in LangGraph &amp; CrewAI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544068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E97AE"/>
                </a:solidFill>
                <a:latin typeface="Calibri"/>
              </a:rPr>
              <a:t>Lead Trainers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5650992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C3D4"/>
                </a:solidFill>
                <a:latin typeface="Calibri"/>
              </a:rPr>
              <a:t>Alaaldin Ahmed   ·   Mohammed Abu Alhalaweih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5989320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E97AE"/>
                </a:solidFill>
                <a:latin typeface="Calibri"/>
              </a:rPr>
              <a:t>Jerusalem High-Tech Foundry (JHF)  ·  In partnership with COMCEC</a:t>
            </a:r>
          </a:p>
        </p:txBody>
      </p:sp>
    </p:spTree>
    <p:extLst>
      <p:ext uri="{BB962C8B-B14F-4D97-AF65-F5344CB8AC3E}">
        <p14:creationId xmlns:p14="http://schemas.microsoft.com/office/powerpoint/2010/main" val="1790086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8D4"/>
                </a:solidFill>
                <a:latin typeface="Trebuchet MS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47"/>
                </a:solidFill>
                <a:latin typeface="Trebuchet MS"/>
              </a:rPr>
              <a:t>After this module, you can…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349240" cy="15544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59" y="2194560"/>
            <a:ext cx="868680" cy="86868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67127"/>
            <a:ext cx="3749039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1E293B"/>
                </a:solidFill>
                <a:latin typeface="Calibri"/>
              </a:rPr>
              <a:t>Draw the reference architecture of an agentic system and label every part.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8" y="1874519"/>
            <a:ext cx="5349240" cy="15544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556248" y="2194560"/>
            <a:ext cx="868680" cy="86868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53528" y="2167127"/>
            <a:ext cx="3749039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1E293B"/>
                </a:solidFill>
                <a:latin typeface="Calibri"/>
              </a:rPr>
              <a:t>Distinguish control flow from data 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5349240" cy="15544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22959" y="3977639"/>
            <a:ext cx="868680" cy="8686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950208"/>
            <a:ext cx="3749039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1E293B"/>
                </a:solidFill>
                <a:latin typeface="Calibri"/>
              </a:rPr>
              <a:t>Compare LangGraph (graph-based) and CrewAI (role-based) and pick the right 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3657600"/>
            <a:ext cx="5349240" cy="15544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556248" y="3977639"/>
            <a:ext cx="868680" cy="868680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3528" y="3950208"/>
            <a:ext cx="3749039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1E293B"/>
                </a:solidFill>
                <a:latin typeface="Calibri"/>
              </a:rPr>
              <a:t>Bootstrap a reproducible environment and run a hello-agent in both frameworks.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Module 2 · Architectures &amp; the 2026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3359519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8D4"/>
                </a:solidFill>
                <a:latin typeface="Trebuchet MS"/>
              </a:rPr>
              <a:t>1 · 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47"/>
                </a:solidFill>
                <a:latin typeface="Trebuchet MS"/>
              </a:rPr>
              <a:t>Every part a real system has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611880" cy="34290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611880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965960" y="2148840"/>
            <a:ext cx="768096" cy="768096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E2A47"/>
                </a:solidFill>
                <a:latin typeface="Trebuchet MS"/>
              </a:rPr>
              <a:t>Model +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11296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93B"/>
                </a:solidFill>
                <a:latin typeface="Calibri"/>
              </a:rPr>
              <a:t>Reason + 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041648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The LLM reasons; tools act on the world. The M1 loop, made real.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828800"/>
            <a:ext cx="3611880" cy="34290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98264" y="1828800"/>
            <a:ext cx="3611880" cy="109728"/>
          </a:xfrm>
          <a:prstGeom prst="rect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815583" y="2148840"/>
            <a:ext cx="768096" cy="768096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301752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E2A47"/>
                </a:solidFill>
                <a:latin typeface="Trebuchet MS"/>
              </a:rPr>
              <a:t>Orchestrator +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511296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93B"/>
                </a:solidFill>
                <a:latin typeface="Calibri"/>
              </a:rPr>
              <a:t>The loop + recall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3" y="4041648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Runs control flow &amp; multi-agent routing; short + long-term memory.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828800"/>
            <a:ext cx="3611880" cy="3429000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47888" y="1828800"/>
            <a:ext cx="3611880" cy="1097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665208" y="2148840"/>
            <a:ext cx="768096" cy="76809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7" y="301752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Trebuchet MS"/>
              </a:rPr>
              <a:t>Guardrails + Observability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3511296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DCE8F4"/>
                </a:solidFill>
                <a:latin typeface="Calibri"/>
              </a:rPr>
              <a:t>Safe + measurable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4041648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>
                <a:solidFill>
                  <a:srgbClr val="C7D8E8"/>
                </a:solidFill>
                <a:latin typeface="Calibri"/>
              </a:rPr>
              <a:t>Validation &amp; safety wrap it; tracing/cost/latency instrument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A623"/>
                </a:solidFill>
                <a:latin typeface="Calibri"/>
              </a:rPr>
              <a:t>→  </a:t>
            </a:r>
          </a:p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93B"/>
                </a:solidFill>
                <a:latin typeface="Calibri"/>
              </a:rPr>
              <a:t>Every box maps to a future module — today you get the map of the whole bootcamp.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Module 2 · Architectures &amp; the 2026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3 / 8</a:t>
            </a:r>
          </a:p>
        </p:txBody>
      </p:sp>
    </p:spTree>
    <p:extLst>
      <p:ext uri="{BB962C8B-B14F-4D97-AF65-F5344CB8AC3E}">
        <p14:creationId xmlns:p14="http://schemas.microsoft.com/office/powerpoint/2010/main" val="1979067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8D4"/>
                </a:solidFill>
                <a:latin typeface="Trebuchet MS"/>
              </a:rPr>
              <a:t>2 · ORCHESTRATION PHILOSOPHIES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47"/>
                </a:solidFill>
                <a:latin typeface="Trebuchet MS"/>
              </a:rPr>
              <a:t>LangGraph vs CrewAI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852160" cy="35661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852160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2A47"/>
                </a:solidFill>
                <a:latin typeface="Trebuchet MS"/>
              </a:rPr>
              <a:t>LangGraph — a graph/state machine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743200"/>
            <a:ext cx="164592" cy="16459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660904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0">
                <a:solidFill>
                  <a:srgbClr val="1E293B"/>
                </a:solidFill>
                <a:latin typeface="Calibri"/>
              </a:rPr>
              <a:t>Explicit control flow: nodes, edges, conditions, loops.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310128"/>
            <a:ext cx="164592" cy="16459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3227832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0">
                <a:solidFill>
                  <a:srgbClr val="1E293B"/>
                </a:solidFill>
                <a:latin typeface="Calibri"/>
              </a:rPr>
              <a:t>Best for precise branching, looping, stateful flows.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877056"/>
            <a:ext cx="164592" cy="16459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79476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0">
                <a:solidFill>
                  <a:srgbClr val="1E293B"/>
                </a:solidFill>
                <a:latin typeface="Calibri"/>
              </a:rPr>
              <a:t>Our orchestration backbone (M3, M4, M8).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1828800"/>
            <a:ext cx="5029200" cy="3566160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29400" y="1828800"/>
            <a:ext cx="5029200" cy="1097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0" y="219456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Trebuchet MS"/>
              </a:rPr>
              <a:t>CrewAI — a team of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834640"/>
            <a:ext cx="4434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•  </a:t>
            </a:r>
          </a:p>
          <a:p>
            <a:pPr algn="l">
              <a:lnSpc>
                <a:spcPct val="103000"/>
              </a:lnSpc>
            </a:pPr>
            <a:r>
              <a:rPr sz="1300" b="0">
                <a:solidFill>
                  <a:srgbClr val="C7D8E8"/>
                </a:solidFill>
                <a:latin typeface="Calibri"/>
              </a:rPr>
              <a:t>Agents with goals, tasks, a process.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438144"/>
            <a:ext cx="4434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•  </a:t>
            </a:r>
          </a:p>
          <a:p>
            <a:pPr algn="l">
              <a:lnSpc>
                <a:spcPct val="103000"/>
              </a:lnSpc>
            </a:pPr>
            <a:r>
              <a:rPr sz="1300" b="0">
                <a:solidFill>
                  <a:srgbClr val="C7D8E8"/>
                </a:solidFill>
                <a:latin typeface="Calibri"/>
              </a:rPr>
              <a:t>Best for fast multi-agent role collaboration.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041648"/>
            <a:ext cx="4434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•  </a:t>
            </a:r>
          </a:p>
          <a:p>
            <a:pPr algn="l">
              <a:lnSpc>
                <a:spcPct val="103000"/>
              </a:lnSpc>
            </a:pPr>
            <a:r>
              <a:rPr sz="1300" b="0">
                <a:solidFill>
                  <a:srgbClr val="C7D8E8"/>
                </a:solidFill>
                <a:latin typeface="Calibri"/>
              </a:rPr>
              <a:t>Our multi-agent crews (M7, M9).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645152"/>
            <a:ext cx="4434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•  </a:t>
            </a:r>
          </a:p>
          <a:p>
            <a:pPr algn="l">
              <a:lnSpc>
                <a:spcPct val="103000"/>
              </a:lnSpc>
            </a:pPr>
            <a:r>
              <a:rPr sz="1300" b="0">
                <a:solidFill>
                  <a:srgbClr val="C7D8E8"/>
                </a:solidFill>
                <a:latin typeface="Calibri"/>
              </a:rPr>
              <a:t>Not rivals — different abstraction levels.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Module 2 · Architectures &amp; the 2026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4 / 8</a:t>
            </a:r>
          </a:p>
        </p:txBody>
      </p:sp>
    </p:spTree>
    <p:extLst>
      <p:ext uri="{BB962C8B-B14F-4D97-AF65-F5344CB8AC3E}">
        <p14:creationId xmlns:p14="http://schemas.microsoft.com/office/powerpoint/2010/main" val="3767709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8D4"/>
                </a:solidFill>
                <a:latin typeface="Trebuchet MS"/>
              </a:rPr>
              <a:t>3 · INTEGRATION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47"/>
                </a:solidFill>
                <a:latin typeface="Trebuchet MS"/>
              </a:rPr>
              <a:t>MCP &amp; A2A — two different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611880" cy="34290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611880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965960" y="2148840"/>
            <a:ext cx="768096" cy="768096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E2A47"/>
                </a:solidFill>
                <a:latin typeface="Trebuchet MS"/>
              </a:rPr>
              <a:t>MCP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11296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93B"/>
                </a:solidFill>
                <a:latin typeface="Calibri"/>
              </a:rPr>
              <a:t>Agent ↔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041648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“USB-C for tools.” A standard way to plug capabilities &amp; data into an agent.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828800"/>
            <a:ext cx="3611880" cy="34290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98264" y="1828800"/>
            <a:ext cx="3611880" cy="109728"/>
          </a:xfrm>
          <a:prstGeom prst="rect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815583" y="2148840"/>
            <a:ext cx="768096" cy="768096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301752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E2A47"/>
                </a:solidFill>
                <a:latin typeface="Trebuchet MS"/>
              </a:rPr>
              <a:t>A2A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511296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93B"/>
                </a:solidFill>
                <a:latin typeface="Calibri"/>
              </a:rPr>
              <a:t>Agent ↔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3" y="4041648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How agents discover &amp; delegate to each other — even across frameworks.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828800"/>
            <a:ext cx="3611880" cy="3429000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47888" y="1828800"/>
            <a:ext cx="3611880" cy="1097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665208" y="2148840"/>
            <a:ext cx="768096" cy="76809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7" y="301752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Trebuchet MS"/>
              </a:rPr>
              <a:t>They compose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3511296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DCE8F4"/>
                </a:solidFill>
                <a:latin typeface="Calibri"/>
              </a:rPr>
              <a:t>Different jobs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4041648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>
                <a:solidFill>
                  <a:srgbClr val="C7D8E8"/>
                </a:solidFill>
                <a:latin typeface="Calibri"/>
              </a:rPr>
              <a:t>An A2A network of agents, each using MCP to reach its own tools.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A623"/>
                </a:solidFill>
                <a:latin typeface="Calibri"/>
              </a:rPr>
              <a:t>→  </a:t>
            </a:r>
          </a:p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93B"/>
                </a:solidFill>
                <a:latin typeface="Calibri"/>
              </a:rPr>
              <a:t>MCP = agent↔tools. A2A = agent↔agent. They are not competing standards.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Module 2 · Architectures &amp; the 2026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5 / 8</a:t>
            </a:r>
          </a:p>
        </p:txBody>
      </p:sp>
    </p:spTree>
    <p:extLst>
      <p:ext uri="{BB962C8B-B14F-4D97-AF65-F5344CB8AC3E}">
        <p14:creationId xmlns:p14="http://schemas.microsoft.com/office/powerpoint/2010/main" val="3119595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A623"/>
                </a:solidFill>
                <a:latin typeface="Trebuchet MS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Trebuchet MS"/>
              </a:rPr>
              <a:t>Hello-agent in LangGraph &amp; CrewAI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>
                <a:solidFill>
                  <a:srgbClr val="C7D8E8"/>
                </a:solidFill>
                <a:latin typeface="Calibri"/>
              </a:rPr>
              <a:t>Bootstrap a reproducible repo (venv, lockfile, git-ignored secrets), then run the SAME trivial task in both frameworks to feel the difference.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11091672" cy="1234440"/>
          </a:xfrm>
          <a:prstGeom prst="roundRect">
            <a:avLst/>
          </a:prstGeom>
          <a:solidFill>
            <a:srgbClr val="143A5E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90779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A623"/>
                </a:solidFill>
                <a:latin typeface="Trebuchet MS"/>
              </a:rPr>
              <a:t>DEFINITION OF 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0">
                <a:solidFill>
                  <a:srgbClr val="FFFFFF"/>
                </a:solidFill>
                <a:latin typeface="Calibri"/>
              </a:rPr>
              <a:t>Given a topic, both a LangGraph graph and a CrewAI crew return a one-sentence definition — and you can articulate why the two feel different.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97680"/>
            <a:ext cx="5394960" cy="914400"/>
          </a:xfrm>
          <a:prstGeom prst="roundRect">
            <a:avLst/>
          </a:prstGeom>
          <a:solidFill>
            <a:srgbClr val="143A5E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4544568"/>
            <a:ext cx="411480" cy="4114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0E2A47"/>
                </a:solidFill>
                <a:latin typeface="Trebuchet MS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4348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onsolas"/>
              </a:rPr>
              <a:t>M2-Lab-Worksheet.md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77316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7D8E8"/>
                </a:solidFill>
                <a:latin typeface="Calibri"/>
              </a:rPr>
              <a:t>Step-by-step instructions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4297680"/>
            <a:ext cx="5394960" cy="914400"/>
          </a:xfrm>
          <a:prstGeom prst="roundRect">
            <a:avLst/>
          </a:prstGeom>
          <a:solidFill>
            <a:srgbClr val="143A5E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73952" y="4544568"/>
            <a:ext cx="411480" cy="4114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0E2A47"/>
                </a:solidFill>
                <a:latin typeface="Trebuchet MS"/>
              </a:rPr>
              <a:t>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44348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onsolas"/>
              </a:rPr>
              <a:t>starter-code/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8312" y="477316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7D8E8"/>
                </a:solidFill>
                <a:latin typeface="Calibri"/>
              </a:rPr>
              <a:t>Both framework stubs + requirements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8C3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E97AE"/>
                </a:solidFill>
                <a:latin typeface="Calibri"/>
              </a:rPr>
              <a:t>Module 2 · Architectures &amp; the 2026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8C3D4"/>
                </a:solidFill>
                <a:latin typeface="Calibri"/>
              </a:rPr>
              <a:t>6 / 8</a:t>
            </a:r>
          </a:p>
        </p:txBody>
      </p:sp>
    </p:spTree>
    <p:extLst>
      <p:ext uri="{BB962C8B-B14F-4D97-AF65-F5344CB8AC3E}">
        <p14:creationId xmlns:p14="http://schemas.microsoft.com/office/powerpoint/2010/main" val="2009608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8D4"/>
                </a:solidFill>
                <a:latin typeface="Trebuchet MS"/>
              </a:rP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47"/>
                </a:solidFill>
                <a:latin typeface="Trebuchet MS"/>
              </a:rPr>
              <a:t>Key terms to take away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36118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04672" y="2130552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945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Orchestrator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34639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The engine that runs the agent loop and control 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874519"/>
            <a:ext cx="36118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654296" y="2130552"/>
            <a:ext cx="502920" cy="50292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2664" y="21945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Control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3" y="2834639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The order in which steps/agents execute.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1874519"/>
            <a:ext cx="36118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03919" y="2130552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1945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Data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2834639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The information passed between components.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14800"/>
            <a:ext cx="36118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04672" y="4370832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4348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Node / 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07492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A unit of work / a transition between units (LangGraph).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98264" y="4114800"/>
            <a:ext cx="36118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654296" y="4370832"/>
            <a:ext cx="502920" cy="50292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44348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Role / crew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3" y="507492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A specialized agent / a team running a process (CrewAI).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47888" y="4114800"/>
            <a:ext cx="36118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503919" y="4370832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44348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Lockfile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507492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Pinned dependency versions for reproducible installs.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Module 2 · Architectures &amp; the 2026 Stack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7 / 8</a:t>
            </a:r>
          </a:p>
        </p:txBody>
      </p:sp>
    </p:spTree>
    <p:extLst>
      <p:ext uri="{BB962C8B-B14F-4D97-AF65-F5344CB8AC3E}">
        <p14:creationId xmlns:p14="http://schemas.microsoft.com/office/powerpoint/2010/main" val="1516473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8C3D4"/>
                </a:solidFill>
                <a:latin typeface="Trebuchet MS"/>
              </a:rPr>
              <a:t>CHECK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Trebuchet MS"/>
              </a:rPr>
              <a:t>Quick Quiz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0E2A47"/>
                </a:solidFill>
                <a:latin typeface="Trebuchet M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938528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Name the six core components of the agentic reference architecture.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578608"/>
            <a:ext cx="457200" cy="45720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0E2A47"/>
                </a:solidFill>
                <a:latin typeface="Trebuchet M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596896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Control flow vs data flow — define each in one line.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236976"/>
            <a:ext cx="457200" cy="45720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0E2A47"/>
                </a:solidFill>
                <a:latin typeface="Trebuchet M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255264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Give the core mental model of LangGraph and of CrewAI.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895344"/>
            <a:ext cx="457200" cy="45720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0E2A47"/>
                </a:solidFill>
                <a:latin typeface="Trebuchet M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913631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One sentence: what does MCP connect, and what does A2A connect?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553712"/>
            <a:ext cx="457200" cy="45720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0E2A47"/>
                </a:solidFill>
                <a:latin typeface="Trebuchet M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71999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Why use a lockfile and a git-ignored .env?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623560"/>
            <a:ext cx="11091672" cy="548640"/>
          </a:xfrm>
          <a:prstGeom prst="roundRect">
            <a:avLst/>
          </a:prstGeom>
          <a:solidFill>
            <a:srgbClr val="143A5E"/>
          </a:solidFill>
          <a:ln w="12700">
            <a:solidFill>
              <a:srgbClr val="18C3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C3D4"/>
                </a:solidFill>
                <a:latin typeface="Calibri"/>
              </a:rPr>
              <a:t>Next:   </a:t>
            </a:r>
          </a:p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Module 3 — ReAct, Planning &amp; Tool-Use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8C3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E97AE"/>
                </a:solidFill>
                <a:latin typeface="Calibri"/>
              </a:rPr>
              <a:t>Module 2 · Architectures &amp; the 2026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8C3D4"/>
                </a:solidFill>
                <a:latin typeface="Calibri"/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1585564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764</Words>
  <Application>Microsoft Office PowerPoint</Application>
  <PresentationFormat>Custom</PresentationFormat>
  <Paragraphs>130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Alaaldin Ahmed</dc:creator>
  <cp:lastModifiedBy>Alaaldin Ahmed</cp:lastModifiedBy>
  <cp:revision>1</cp:revision>
  <dcterms:created xsi:type="dcterms:W3CDTF">2026-07-31T12:55:56Z</dcterms:created>
  <dcterms:modified xsi:type="dcterms:W3CDTF">2026-07-31T12:55:56Z</dcterms:modified>
</cp:coreProperties>
</file>